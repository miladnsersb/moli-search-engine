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Cambria Math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D41EF4-3B24-400A-9559-2ECC53AD0143}">
  <a:tblStyle styleId="{BFD41EF4-3B24-400A-9559-2ECC53AD014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7" Type="http://schemas.openxmlformats.org/officeDocument/2006/relationships/font" Target="fonts/CambriaMath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9:notes"/>
          <p:cNvSpPr/>
          <p:nvPr>
            <p:ph idx="2" type="sldImg"/>
          </p:nvPr>
        </p:nvSpPr>
        <p:spPr>
          <a:xfrm>
            <a:off x="1143225" y="685778"/>
            <a:ext cx="4572225" cy="342897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937763" y="4845985"/>
            <a:ext cx="1268095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359766" y="4845985"/>
            <a:ext cx="1621789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63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6414642" y="1034034"/>
            <a:ext cx="1685925" cy="299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937763" y="4845985"/>
            <a:ext cx="1268095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359766" y="4845985"/>
            <a:ext cx="1621789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63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668268" cy="3288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357" y="672085"/>
            <a:ext cx="5472682" cy="343357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6414642" y="1034034"/>
            <a:ext cx="1685925" cy="299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937763" y="4845985"/>
            <a:ext cx="1268095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359766" y="4845985"/>
            <a:ext cx="1621789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63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5500116" y="0"/>
            <a:ext cx="3643629" cy="1293495"/>
          </a:xfrm>
          <a:custGeom>
            <a:rect b="b" l="l" r="r" t="t"/>
            <a:pathLst>
              <a:path extrusionOk="0" h="1293495" w="3643629">
                <a:moveTo>
                  <a:pt x="3643376" y="571500"/>
                </a:moveTo>
                <a:lnTo>
                  <a:pt x="0" y="0"/>
                </a:lnTo>
              </a:path>
              <a:path extrusionOk="0" h="1293495" w="3643629">
                <a:moveTo>
                  <a:pt x="3115056" y="0"/>
                </a:moveTo>
                <a:lnTo>
                  <a:pt x="3643630" y="1292987"/>
                </a:lnTo>
              </a:path>
            </a:pathLst>
          </a:custGeom>
          <a:noFill/>
          <a:ln cap="flat" cmpd="sng" w="9525">
            <a:solidFill>
              <a:srgbClr val="C5B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5"/>
          <p:cNvSpPr txBox="1"/>
          <p:nvPr>
            <p:ph type="ctrTitle"/>
          </p:nvPr>
        </p:nvSpPr>
        <p:spPr>
          <a:xfrm>
            <a:off x="3664711" y="924255"/>
            <a:ext cx="1920875" cy="34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937763" y="4845985"/>
            <a:ext cx="1268095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359766" y="4845985"/>
            <a:ext cx="1621789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63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414642" y="1034034"/>
            <a:ext cx="1685925" cy="299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3937763" y="4845985"/>
            <a:ext cx="1268095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359766" y="4845985"/>
            <a:ext cx="1621789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00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636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63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9" name="Google Shape;49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7" name="Google Shape;77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3668268" cy="328879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6414642" y="1034034"/>
            <a:ext cx="1685925" cy="299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937763" y="4845985"/>
            <a:ext cx="1268095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359766" y="4845985"/>
            <a:ext cx="1621789" cy="1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863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12.jpg"/><Relationship Id="rId5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mailto:marwaa200034@gmail.com" TargetMode="External"/><Relationship Id="rId4" Type="http://schemas.openxmlformats.org/officeDocument/2006/relationships/image" Target="../media/image8.png"/><Relationship Id="rId9" Type="http://schemas.openxmlformats.org/officeDocument/2006/relationships/image" Target="../media/image23.jp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1047" y="0"/>
            <a:ext cx="22829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791974" y="2718892"/>
            <a:ext cx="4636135" cy="1764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00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ar" sz="6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  <a:r>
              <a:rPr b="0" i="0" lang="ar" sz="6000" u="none" cap="none" strike="noStrike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6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b="0" i="0" sz="6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882496" y="1323794"/>
            <a:ext cx="16935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Damascus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ar">
                <a:solidFill>
                  <a:srgbClr val="3F3F3F"/>
                </a:solidFill>
              </a:rPr>
              <a:t>2025</a:t>
            </a:r>
            <a:r>
              <a:rPr b="0" i="0" lang="ar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ar">
                <a:solidFill>
                  <a:srgbClr val="3F3F3F"/>
                </a:solidFill>
              </a:rPr>
              <a:t>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9323" y="350520"/>
            <a:ext cx="3203447" cy="24597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/>
          <p:nvPr/>
        </p:nvSpPr>
        <p:spPr>
          <a:xfrm>
            <a:off x="862582" y="2004060"/>
            <a:ext cx="1732280" cy="0"/>
          </a:xfrm>
          <a:custGeom>
            <a:rect b="b" l="l" r="r" t="t"/>
            <a:pathLst>
              <a:path extrusionOk="0" h="120000" w="1732280">
                <a:moveTo>
                  <a:pt x="0" y="0"/>
                </a:moveTo>
                <a:lnTo>
                  <a:pt x="1732154" y="0"/>
                </a:lnTo>
              </a:path>
            </a:pathLst>
          </a:custGeom>
          <a:noFill/>
          <a:ln cap="flat" cmpd="sng" w="9525">
            <a:solidFill>
              <a:srgbClr val="A4A4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254" y="637031"/>
            <a:ext cx="5295897" cy="323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1098297" y="4072837"/>
            <a:ext cx="2039620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ar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6414642" y="1034034"/>
            <a:ext cx="1685925" cy="299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ar"/>
              <a:t>Online Metrics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6414642" y="2937764"/>
            <a:ext cx="14852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ar" sz="1800" u="none" cap="none" strike="noStrike">
                <a:solidFill>
                  <a:srgbClr val="101010"/>
                </a:solidFill>
                <a:latin typeface="Arial"/>
                <a:ea typeface="Arial"/>
                <a:cs typeface="Arial"/>
                <a:sym typeface="Arial"/>
              </a:rPr>
              <a:t>Offline Metrics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6414642" y="1497329"/>
            <a:ext cx="238633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captured during actual usage of the IR system when it is </a:t>
            </a:r>
            <a:r>
              <a:rPr b="0" i="1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6414642" y="3400501"/>
            <a:ext cx="2384425" cy="1000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measured in an isolated environment before deploying a new IR system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74" y="272795"/>
            <a:ext cx="5056629" cy="3730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296063" y="4072837"/>
            <a:ext cx="3718560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ar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vs Predicted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117" name="Google Shape;117;p21"/>
          <p:cNvSpPr txBox="1"/>
          <p:nvPr>
            <p:ph type="title"/>
          </p:nvPr>
        </p:nvSpPr>
        <p:spPr>
          <a:xfrm>
            <a:off x="6414642" y="1034034"/>
            <a:ext cx="1685925" cy="2997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ar"/>
              <a:t>Actual Condition</a:t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6414642" y="2937764"/>
            <a:ext cx="2351405" cy="975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Condition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</a:t>
            </a:r>
            <a:r>
              <a:rPr b="0" i="1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returned by the IR system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6414642" y="1497329"/>
            <a:ext cx="224028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refers to the true label of every item in the dataset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277" y="102107"/>
            <a:ext cx="5154166" cy="390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 txBox="1"/>
          <p:nvPr/>
        </p:nvSpPr>
        <p:spPr>
          <a:xfrm>
            <a:off x="1109880" y="4072837"/>
            <a:ext cx="208978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ar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Set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129" name="Google Shape;129;p22"/>
          <p:cNvSpPr txBox="1"/>
          <p:nvPr/>
        </p:nvSpPr>
        <p:spPr>
          <a:xfrm>
            <a:off x="5759325" y="1497325"/>
            <a:ext cx="3180600" cy="24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are </a:t>
            </a:r>
            <a:r>
              <a:rPr b="0" i="1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pp^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or (pn^) if an item is relevant to a query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0" i="1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nn^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or (np^)if an item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</a:t>
            </a:r>
            <a:r>
              <a:rPr b="0" i="1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ir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relevant to a query.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9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1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an item is returned, it is predicted as being </a:t>
            </a:r>
            <a:r>
              <a:rPr b="0" i="1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ar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𝑝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^) and, if it is not returned, is predicted as a </a:t>
            </a:r>
            <a:r>
              <a:rPr b="0" i="1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ar" sz="16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𝑛</a:t>
            </a: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^).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254" y="143255"/>
            <a:ext cx="4456173" cy="386028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5333491" y="1053795"/>
            <a:ext cx="3114675" cy="143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36550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●"/>
            </a:pPr>
            <a:r>
              <a:rPr b="0" i="0" lang="ar" sz="1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Five Systems, one query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58140" marR="5080" rtl="0" algn="l">
              <a:lnSpc>
                <a:spcPct val="100299"/>
              </a:lnSpc>
              <a:spcBef>
                <a:spcPts val="138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Precision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measures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the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proportion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of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retrieved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documents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that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are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relevant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to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the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user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query.</a:t>
            </a:r>
            <a:endParaRPr b="0" i="0" sz="16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471016" y="4059730"/>
            <a:ext cx="180022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ar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4520310" y="3355340"/>
            <a:ext cx="96837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𝑃𝑟𝑒𝑐𝑖𝑠𝑖𝑜𝑛 =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5563997" y="3488944"/>
            <a:ext cx="2833370" cy="12700"/>
          </a:xfrm>
          <a:custGeom>
            <a:rect b="b" l="l" r="r" t="t"/>
            <a:pathLst>
              <a:path extrusionOk="0" h="12700" w="2833370">
                <a:moveTo>
                  <a:pt x="2833116" y="0"/>
                </a:moveTo>
                <a:lnTo>
                  <a:pt x="0" y="0"/>
                </a:lnTo>
                <a:lnTo>
                  <a:pt x="0" y="12193"/>
                </a:lnTo>
                <a:lnTo>
                  <a:pt x="2833116" y="12193"/>
                </a:lnTo>
                <a:lnTo>
                  <a:pt x="283311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5552059" y="3219704"/>
            <a:ext cx="285432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𝑁𝑢𝑚𝑏𝑒𝑟 𝑜𝑓 𝑟𝑒𝑙𝑒𝑣𝑎𝑛𝑡 𝑑𝑜𝑐𝑠 𝑟𝑒𝑡𝑟𝑖𝑒𝑣𝑒𝑑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5890389" y="3474209"/>
            <a:ext cx="217868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𝑇𝑜𝑡𝑎𝑙 𝑟𝑒𝑡𝑟𝑖𝑒𝑣𝑒𝑑 𝑑𝑜𝑐𝑢𝑚𝑒𝑛𝑡𝑠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" y="256031"/>
            <a:ext cx="4314443" cy="360425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5333491" y="910173"/>
            <a:ext cx="3040380" cy="153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6825">
            <a:spAutoFit/>
          </a:bodyPr>
          <a:lstStyle/>
          <a:p>
            <a:pPr indent="-336550" lvl="0" marL="349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●"/>
            </a:pPr>
            <a:r>
              <a:rPr b="0" i="0" lang="ar" sz="1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Five Systems, one query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39090" marR="5080" rtl="0" algn="l">
              <a:lnSpc>
                <a:spcPct val="1002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Precision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at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calculates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precision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for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only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documents.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It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considers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the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top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</a:t>
            </a:r>
            <a:r>
              <a:rPr b="0" i="0" lang="ar" sz="1600" u="none" cap="none" strike="noStrike">
                <a:solidFill>
                  <a:srgbClr val="1010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ar" sz="1600" u="none" cap="none" strike="noStrike">
                <a:solidFill>
                  <a:srgbClr val="10101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recommendations.</a:t>
            </a:r>
            <a:endParaRPr b="0" i="0" sz="16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382626" y="4156657"/>
            <a:ext cx="2524760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ar" sz="3400" u="none" cap="none" strike="noStrike">
                <a:solidFill>
                  <a:srgbClr val="101010"/>
                </a:solidFill>
                <a:latin typeface="Arial"/>
                <a:ea typeface="Arial"/>
                <a:cs typeface="Arial"/>
                <a:sym typeface="Arial"/>
              </a:rPr>
              <a:t>Precision@K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4628769" y="3547313"/>
            <a:ext cx="96710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𝑃𝑟𝑒𝑐𝑖𝑠𝑖𝑜𝑛 =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5671058" y="3681348"/>
            <a:ext cx="2700655" cy="12700"/>
          </a:xfrm>
          <a:custGeom>
            <a:rect b="b" l="l" r="r" t="t"/>
            <a:pathLst>
              <a:path extrusionOk="0" h="12700" w="2700654">
                <a:moveTo>
                  <a:pt x="2700528" y="0"/>
                </a:moveTo>
                <a:lnTo>
                  <a:pt x="0" y="0"/>
                </a:lnTo>
                <a:lnTo>
                  <a:pt x="0" y="12193"/>
                </a:lnTo>
                <a:lnTo>
                  <a:pt x="2700528" y="12193"/>
                </a:lnTo>
                <a:lnTo>
                  <a:pt x="2700528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5659373" y="3411982"/>
            <a:ext cx="27216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𝑁𝑢𝑚𝑏𝑒𝑟 𝑜𝑓 𝑟𝑒𝑙𝑒𝑣𝑎𝑛𝑡 𝑑𝑜𝑐𝑠 𝑖𝑛 𝑡𝑜𝑝 𝐾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157" name="Google Shape;157;p24"/>
          <p:cNvSpPr txBox="1"/>
          <p:nvPr/>
        </p:nvSpPr>
        <p:spPr>
          <a:xfrm>
            <a:off x="6944107" y="3666869"/>
            <a:ext cx="15049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957" y="102109"/>
            <a:ext cx="5244082" cy="404926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5"/>
          <p:cNvSpPr txBox="1"/>
          <p:nvPr>
            <p:ph type="title"/>
          </p:nvPr>
        </p:nvSpPr>
        <p:spPr>
          <a:xfrm>
            <a:off x="5975984" y="1128724"/>
            <a:ext cx="2849880" cy="100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ar" sz="1600"/>
              <a:t>It measures how many relevant items were returned against how many relevant items exist in the entire dataset</a:t>
            </a:r>
            <a:endParaRPr sz="1600"/>
          </a:p>
        </p:txBody>
      </p:sp>
      <p:sp>
        <p:nvSpPr>
          <p:cNvPr id="166" name="Google Shape;166;p25"/>
          <p:cNvSpPr txBox="1"/>
          <p:nvPr/>
        </p:nvSpPr>
        <p:spPr>
          <a:xfrm>
            <a:off x="4656582" y="3745788"/>
            <a:ext cx="709295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𝑅𝑒𝑐𝑎𝑙𝑙 =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5439664" y="3879353"/>
            <a:ext cx="2833370" cy="12700"/>
          </a:xfrm>
          <a:custGeom>
            <a:rect b="b" l="l" r="r" t="t"/>
            <a:pathLst>
              <a:path extrusionOk="0" h="12700" w="2833370">
                <a:moveTo>
                  <a:pt x="2833116" y="0"/>
                </a:moveTo>
                <a:lnTo>
                  <a:pt x="0" y="0"/>
                </a:lnTo>
                <a:lnTo>
                  <a:pt x="0" y="12193"/>
                </a:lnTo>
                <a:lnTo>
                  <a:pt x="2833116" y="12193"/>
                </a:lnTo>
                <a:lnTo>
                  <a:pt x="283311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5427726" y="3610102"/>
            <a:ext cx="285623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𝑁𝑢𝑚𝑏𝑒𝑟 𝑜𝑓 𝑟𝑒𝑙𝑒𝑣𝑎𝑛𝑡 𝑑𝑜𝑐𝑠 𝑟𝑒𝑡𝑟𝑖𝑒𝑣𝑒𝑑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359766" y="4272989"/>
            <a:ext cx="1819910" cy="43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08330" marR="0" rtl="0" algn="l">
              <a:lnSpc>
                <a:spcPct val="1001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ar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5609334" y="3864357"/>
            <a:ext cx="2492375" cy="2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𝑇𝑜𝑡𝑎𝑙 𝑛𝑢𝑚𝑏𝑒𝑟 𝑜𝑓 𝑟𝑒𝑙𝑒𝑣𝑎𝑛𝑡 𝑑𝑜𝑐𝑠</a:t>
            </a:r>
            <a:endParaRPr b="0" i="0" sz="14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5734303" y="1926463"/>
            <a:ext cx="2719705" cy="1245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Recall@K,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score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improves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ar" sz="20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increases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scope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returned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items</a:t>
            </a:r>
            <a:r>
              <a:rPr lang="ar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ar" sz="2000">
                <a:latin typeface="Calibri"/>
                <a:ea typeface="Calibri"/>
                <a:cs typeface="Calibri"/>
                <a:sym typeface="Calibri"/>
              </a:rPr>
              <a:t>increases.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304800" y="4248150"/>
            <a:ext cx="1819910" cy="436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08330" marR="0" rtl="0" algn="l">
              <a:lnSpc>
                <a:spcPct val="1001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ar" sz="3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88" y="699516"/>
            <a:ext cx="6516623" cy="374446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189" name="Google Shape;189;p27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587" y="102109"/>
            <a:ext cx="4910325" cy="388162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/>
          <p:nvPr/>
        </p:nvSpPr>
        <p:spPr>
          <a:xfrm>
            <a:off x="382626" y="4204512"/>
            <a:ext cx="412559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r>
              <a:rPr b="0" i="0" lang="ar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r>
              <a:rPr b="0" i="0" lang="ar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b="0" i="0" lang="ar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(MAP)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5975984" y="1128724"/>
            <a:ext cx="2847340" cy="100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average precision (MAP) for a set of queries is the mean of the average precision scores for each query.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5935726" y="3552190"/>
            <a:ext cx="82740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ar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𝑀𝐴𝑃 =</a:t>
            </a:r>
            <a:endParaRPr b="0" i="0" sz="20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6819392" y="3737611"/>
            <a:ext cx="1310640" cy="17145"/>
          </a:xfrm>
          <a:custGeom>
            <a:rect b="b" l="l" r="r" t="t"/>
            <a:pathLst>
              <a:path extrusionOk="0" h="17145" w="1310640">
                <a:moveTo>
                  <a:pt x="1310640" y="0"/>
                </a:moveTo>
                <a:lnTo>
                  <a:pt x="0" y="0"/>
                </a:lnTo>
                <a:lnTo>
                  <a:pt x="0" y="16762"/>
                </a:lnTo>
                <a:lnTo>
                  <a:pt x="1310640" y="16762"/>
                </a:lnTo>
                <a:lnTo>
                  <a:pt x="131064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6987669" y="3472941"/>
            <a:ext cx="386080" cy="24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ar" sz="14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𝑞=1</a:t>
            </a:r>
            <a:endParaRPr b="0" i="0" sz="14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202" name="Google Shape;202;p28"/>
          <p:cNvSpPr txBox="1"/>
          <p:nvPr/>
        </p:nvSpPr>
        <p:spPr>
          <a:xfrm>
            <a:off x="6782434" y="3203196"/>
            <a:ext cx="38608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baseline="-25000" i="0" lang="ar" sz="3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σ</a:t>
            </a:r>
            <a:r>
              <a:rPr b="0" i="0" lang="ar" sz="14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𝑄</a:t>
            </a:r>
            <a:endParaRPr b="0" i="0" sz="14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7390007" y="3331208"/>
            <a:ext cx="74739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ar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𝐴𝑃@𝐾</a:t>
            </a:r>
            <a:endParaRPr b="0" i="0" sz="20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7373239" y="3722928"/>
            <a:ext cx="19812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ar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𝑄</a:t>
            </a:r>
            <a:endParaRPr b="0" i="0" sz="20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277" y="220979"/>
            <a:ext cx="5244082" cy="392429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9"/>
          <p:cNvSpPr txBox="1"/>
          <p:nvPr/>
        </p:nvSpPr>
        <p:spPr>
          <a:xfrm>
            <a:off x="382626" y="4244441"/>
            <a:ext cx="298069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r>
              <a:rPr b="0" i="0" lang="ar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b="0" i="0" lang="ar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b="0" i="0" lang="ar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214" name="Google Shape;214;p29"/>
          <p:cNvSpPr txBox="1"/>
          <p:nvPr/>
        </p:nvSpPr>
        <p:spPr>
          <a:xfrm>
            <a:off x="5975984" y="1128724"/>
            <a:ext cx="2847340" cy="100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average precision (MAP) for a set of queries is the mean of the average precision scores for each query.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5693917" y="3472688"/>
            <a:ext cx="328231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a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ar" sz="20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𝑃@𝐾 = </a:t>
            </a:r>
            <a:r>
              <a:rPr b="0" baseline="30000" i="0" lang="ar" sz="1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baseline="30000" i="0" lang="ar" sz="1800" u="sng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𝑘=1	</a:t>
            </a:r>
            <a:endParaRPr b="0" baseline="30000" i="0" sz="18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7006463" y="3306570"/>
            <a:ext cx="329565" cy="24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0" baseline="-25000" i="0" lang="ar" sz="2175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σ</a:t>
            </a:r>
            <a:r>
              <a:rPr b="0" i="0" lang="ar" sz="120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𝐾</a:t>
            </a:r>
            <a:endParaRPr b="0" i="0" sz="12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7508876" y="3388867"/>
            <a:ext cx="1202055" cy="24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ar" sz="14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𝑃@𝐾 ∗ 𝑟𝑒𝑙(𝑘)</a:t>
            </a:r>
            <a:endParaRPr b="0" i="0" sz="14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6789550" y="3669284"/>
            <a:ext cx="2160270" cy="24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ar" sz="1450" u="none" cap="none" strike="noStrike">
                <a:solidFill>
                  <a:srgbClr val="000000"/>
                </a:solidFill>
                <a:latin typeface="Cambria Math"/>
                <a:ea typeface="Cambria Math"/>
                <a:cs typeface="Cambria Math"/>
                <a:sym typeface="Cambria Math"/>
              </a:rPr>
              <a:t>𝑁𝑢𝑚 𝑜𝑓 𝑟𝑒𝑙𝑒𝑣𝑎𝑛𝑡 𝑟𝑒𝑠𝑢𝑙𝑡</a:t>
            </a:r>
            <a:endParaRPr b="0" i="0" sz="145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114" y="102107"/>
            <a:ext cx="4056885" cy="408431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0"/>
          <p:cNvSpPr txBox="1"/>
          <p:nvPr/>
        </p:nvSpPr>
        <p:spPr>
          <a:xfrm>
            <a:off x="382626" y="4204512"/>
            <a:ext cx="4125595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Mean</a:t>
            </a:r>
            <a:r>
              <a:rPr b="0" i="0" lang="ar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Average</a:t>
            </a:r>
            <a:r>
              <a:rPr b="0" i="0" lang="ar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b="0" i="0" lang="ar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ar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(MAP)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1104" y="1295450"/>
            <a:ext cx="3858299" cy="1328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2890" y="3070187"/>
            <a:ext cx="4009604" cy="68955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311643" y="4845985"/>
            <a:ext cx="187197" cy="12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4183742" y="4765942"/>
            <a:ext cx="1219800" cy="1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/>
        </p:nvSpPr>
        <p:spPr>
          <a:xfrm>
            <a:off x="1905325" y="454775"/>
            <a:ext cx="69087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nDCG?</a:t>
            </a:r>
            <a:br>
              <a:rPr b="1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 assumes binary relevance (relevant or not).</a:t>
            </a:r>
            <a:b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real IR systems, relevance is often </a:t>
            </a:r>
            <a:r>
              <a:rPr b="1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graded</a:t>
            </a:r>
            <a: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0–2 or 0–3).</a:t>
            </a:r>
            <a:b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nDCG rewards </a:t>
            </a:r>
            <a:r>
              <a:rPr b="1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relevant items at higher ranks</a:t>
            </a:r>
            <a: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more.</a:t>
            </a:r>
            <a:b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Formula</a:t>
            </a:r>
            <a: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ar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1"/>
          <p:cNvSpPr txBox="1"/>
          <p:nvPr/>
        </p:nvSpPr>
        <p:spPr>
          <a:xfrm>
            <a:off x="116100" y="4257275"/>
            <a:ext cx="3599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a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Normalized Discounted Cumulative Gain (nDCG)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31" title="Screenshot 2025-05-19 at 11.34.36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8600" y="2842000"/>
            <a:ext cx="3365450" cy="14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2" title="Screenshot 2025-05-19 at 11.37.21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2325" y="504075"/>
            <a:ext cx="7121676" cy="37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2"/>
          <p:cNvSpPr txBox="1"/>
          <p:nvPr/>
        </p:nvSpPr>
        <p:spPr>
          <a:xfrm>
            <a:off x="48375" y="4343100"/>
            <a:ext cx="4218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Normalized Discounted Cumulative Gain (nDCG)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/>
        </p:nvSpPr>
        <p:spPr>
          <a:xfrm>
            <a:off x="1944925" y="812800"/>
            <a:ext cx="69474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 relevance is binary and you want to consider all relevant results.</a:t>
            </a:r>
            <a:b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nDCG</a:t>
            </a: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if:</a:t>
            </a:r>
            <a:b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have </a:t>
            </a:r>
            <a: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graded relevance</a:t>
            </a:r>
            <a:b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care more about </a:t>
            </a:r>
            <a: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top-ranked items</a:t>
            </a:r>
            <a:b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want to simulate </a:t>
            </a:r>
            <a: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experience</a:t>
            </a:r>
            <a:b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261250" y="4250700"/>
            <a:ext cx="3512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ar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Should You Use nDCG?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/>
        </p:nvSpPr>
        <p:spPr>
          <a:xfrm>
            <a:off x="1925625" y="1103100"/>
            <a:ext cx="81957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Metric Best Evaluates a Real IR System?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precision or recall enough to evaluate quality?</a:t>
            </a:r>
            <a:b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we consider ranking position or just relevance?</a:t>
            </a:r>
            <a:b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happens if relevant results appear late in the list?</a:t>
            </a:r>
            <a:b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metric would YOU choose to evaluate a real IR engine — and why?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290275" y="4238175"/>
            <a:ext cx="3648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a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to Use in Modern IR Evaluation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/>
        </p:nvSpPr>
        <p:spPr>
          <a:xfrm>
            <a:off x="1899225" y="1005325"/>
            <a:ext cx="7176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 and Recall :</a:t>
            </a:r>
            <a:r>
              <a:rPr b="0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are useful for simple IR systems or binary classification tasks,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they are not suitable for evaluating </a:t>
            </a:r>
            <a: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ranked</a:t>
            </a:r>
            <a:r>
              <a:rPr b="0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graded</a:t>
            </a:r>
            <a:r>
              <a:rPr b="0" i="0" lang="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IR results.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290275" y="4238175"/>
            <a:ext cx="3648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a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to Use in Modern IR Evaluation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35"/>
          <p:cNvGraphicFramePr/>
          <p:nvPr/>
        </p:nvGraphicFramePr>
        <p:xfrm>
          <a:off x="1465325" y="235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{BFD41EF4-3B24-400A-9559-2ECC53AD0143}</a:tableStyleId>
              </a:tblPr>
              <a:tblGrid>
                <a:gridCol w="665325"/>
                <a:gridCol w="6819825"/>
              </a:tblGrid>
              <a:tr h="35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ar" sz="1100" u="none" cap="none" strike="noStrike"/>
                        <a:t>Metric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ar" sz="1100" u="none" cap="none" strike="noStrike"/>
                        <a:t>Best Use Case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</a:tr>
              <a:tr h="37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ar" sz="1100" u="none" cap="none" strike="noStrike"/>
                        <a:t>nDCG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ar" sz="1400" u="none" cap="none" strike="noStrike"/>
                        <a:t>Best for </a:t>
                      </a:r>
                      <a:r>
                        <a:rPr i="1" lang="ar" sz="1400" u="none" cap="none" strike="noStrike"/>
                        <a:t>ranked</a:t>
                      </a:r>
                      <a:r>
                        <a:rPr lang="ar" sz="1400" u="none" cap="none" strike="noStrike"/>
                        <a:t> IR systems, </a:t>
                      </a:r>
                      <a:r>
                        <a:rPr i="1" lang="ar" sz="1400" u="none" cap="none" strike="noStrike"/>
                        <a:t>graded</a:t>
                      </a:r>
                      <a:r>
                        <a:rPr lang="ar" sz="1400" u="none" cap="none" strike="noStrike"/>
                        <a:t> relevance, and realistic </a:t>
                      </a:r>
                      <a:r>
                        <a:rPr i="1" lang="ar" sz="1400" u="none" cap="none" strike="noStrike"/>
                        <a:t>user behavior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</a:tr>
              <a:tr h="37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ar" sz="1100" u="none" cap="none" strike="noStrike"/>
                        <a:t>MAP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ar" sz="1400" u="none" cap="none" strike="noStrike"/>
                        <a:t>Good for </a:t>
                      </a:r>
                      <a:r>
                        <a:rPr i="1" lang="ar" sz="1400" u="none" cap="none" strike="noStrike"/>
                        <a:t>binary relevance</a:t>
                      </a:r>
                      <a:r>
                        <a:rPr lang="ar" sz="1400" u="none" cap="none" strike="noStrike"/>
                        <a:t> in </a:t>
                      </a:r>
                      <a:r>
                        <a:rPr i="1" lang="ar" sz="1400" u="none" cap="none" strike="noStrike"/>
                        <a:t>ranked</a:t>
                      </a:r>
                      <a:r>
                        <a:rPr lang="ar" sz="1400" u="none" cap="none" strike="noStrike"/>
                        <a:t> lists; commonly used in IR benchmarks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7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ar" sz="1100" u="none" cap="none" strike="noStrike"/>
                        <a:t>MRR</a:t>
                      </a:r>
                      <a:endParaRPr b="1"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ar" sz="1400" u="none" cap="none" strike="noStrike"/>
                        <a:t>Best when only </a:t>
                      </a:r>
                      <a:r>
                        <a:rPr i="1" lang="ar" sz="1400" u="none" cap="none" strike="noStrike"/>
                        <a:t>one correct result</a:t>
                      </a:r>
                      <a:r>
                        <a:rPr lang="ar" sz="1400" u="none" cap="none" strike="noStrike"/>
                        <a:t> is expected (e.g., question answering)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/>
        </p:nvSpPr>
        <p:spPr>
          <a:xfrm>
            <a:off x="2032000" y="1296600"/>
            <a:ext cx="62604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metrics that: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Reflect how users interact with ranked results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relevance levels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Penalize late-ranked relevant items</a:t>
            </a:r>
            <a:br>
              <a:rPr b="0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 IR evaluation = Realistic + Ranked + Relevance-aware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290275" y="4238175"/>
            <a:ext cx="3648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ar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to Use in Modern IR Evaluation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/>
          <p:nvPr/>
        </p:nvSpPr>
        <p:spPr>
          <a:xfrm>
            <a:off x="5500687" y="0"/>
            <a:ext cx="3643313" cy="1293019"/>
          </a:xfrm>
          <a:custGeom>
            <a:rect b="b" l="l" r="r" t="t"/>
            <a:pathLst>
              <a:path extrusionOk="0" h="1724025" w="4857750">
                <a:moveTo>
                  <a:pt x="4857750" y="762000"/>
                </a:moveTo>
                <a:lnTo>
                  <a:pt x="0" y="0"/>
                </a:lnTo>
              </a:path>
              <a:path extrusionOk="0" h="1724025" w="4857750">
                <a:moveTo>
                  <a:pt x="4152900" y="0"/>
                </a:moveTo>
                <a:lnTo>
                  <a:pt x="4857750" y="1724025"/>
                </a:lnTo>
              </a:path>
            </a:pathLst>
          </a:custGeom>
          <a:noFill/>
          <a:ln cap="flat" cmpd="sng" w="9525">
            <a:solidFill>
              <a:srgbClr val="C5BD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7"/>
          <p:cNvSpPr txBox="1"/>
          <p:nvPr>
            <p:ph type="title"/>
          </p:nvPr>
        </p:nvSpPr>
        <p:spPr>
          <a:xfrm>
            <a:off x="152401" y="188405"/>
            <a:ext cx="6281072" cy="556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50">
            <a:spAutoFit/>
          </a:bodyPr>
          <a:lstStyle/>
          <a:p>
            <a:pPr indent="0" lvl="0" marL="3307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ar"/>
              <a:t>PREPARED BY</a:t>
            </a:r>
            <a:endParaRPr/>
          </a:p>
        </p:txBody>
      </p:sp>
      <p:sp>
        <p:nvSpPr>
          <p:cNvPr id="276" name="Google Shape;276;p37"/>
          <p:cNvSpPr txBox="1"/>
          <p:nvPr/>
        </p:nvSpPr>
        <p:spPr>
          <a:xfrm>
            <a:off x="2173719" y="1944762"/>
            <a:ext cx="1382554" cy="171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ar" sz="105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Soulyma AlMahaeri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7"/>
          <p:cNvSpPr txBox="1"/>
          <p:nvPr/>
        </p:nvSpPr>
        <p:spPr>
          <a:xfrm>
            <a:off x="2461421" y="2298574"/>
            <a:ext cx="1724025" cy="148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sng" cap="none" strike="noStrike">
                <a:solidFill>
                  <a:srgbClr val="0562C1"/>
                </a:solidFill>
                <a:latin typeface="Arial"/>
                <a:ea typeface="Arial"/>
                <a:cs typeface="Arial"/>
                <a:sym typeface="Arial"/>
              </a:rPr>
              <a:t>soulymamahaeri@gmail,com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7"/>
          <p:cNvSpPr txBox="1"/>
          <p:nvPr/>
        </p:nvSpPr>
        <p:spPr>
          <a:xfrm>
            <a:off x="2486682" y="2640711"/>
            <a:ext cx="1187768" cy="148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sng" cap="none" strike="noStrike">
                <a:solidFill>
                  <a:srgbClr val="0562C1"/>
                </a:solidFill>
                <a:latin typeface="Arial"/>
                <a:ea typeface="Arial"/>
                <a:cs typeface="Arial"/>
                <a:sym typeface="Arial"/>
              </a:rPr>
              <a:t>Soulyma Al-Mahaeri</a:t>
            </a:r>
            <a:endParaRPr b="0" i="0" sz="900" u="sng" cap="none" strike="noStrike">
              <a:solidFill>
                <a:srgbClr val="0562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7"/>
          <p:cNvSpPr txBox="1"/>
          <p:nvPr/>
        </p:nvSpPr>
        <p:spPr>
          <a:xfrm>
            <a:off x="2486682" y="2982850"/>
            <a:ext cx="1187768" cy="148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sng" cap="none" strike="noStrike">
                <a:solidFill>
                  <a:srgbClr val="0562C1"/>
                </a:solidFill>
                <a:latin typeface="Arial"/>
                <a:ea typeface="Arial"/>
                <a:cs typeface="Arial"/>
                <a:sym typeface="Arial"/>
              </a:rPr>
              <a:t>Soulyma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7"/>
          <p:cNvSpPr txBox="1"/>
          <p:nvPr/>
        </p:nvSpPr>
        <p:spPr>
          <a:xfrm>
            <a:off x="2486682" y="3324988"/>
            <a:ext cx="1187768" cy="148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sng" cap="none" strike="noStrike">
                <a:solidFill>
                  <a:srgbClr val="0562C1"/>
                </a:solidFill>
                <a:latin typeface="Arial"/>
                <a:ea typeface="Arial"/>
                <a:cs typeface="Arial"/>
                <a:sym typeface="Arial"/>
              </a:rPr>
              <a:t>Soulyma Mahaeri</a:t>
            </a:r>
            <a:endParaRPr b="0" i="0" sz="900" u="sng" cap="none" strike="noStrike">
              <a:solidFill>
                <a:srgbClr val="0562C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6770894" y="2279990"/>
            <a:ext cx="1444466" cy="148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marwaa200034@gmail.com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6770894" y="2622128"/>
            <a:ext cx="736758" cy="148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sng" cap="none" strike="noStrike">
                <a:solidFill>
                  <a:srgbClr val="0562C1"/>
                </a:solidFill>
                <a:latin typeface="Arial"/>
                <a:ea typeface="Arial"/>
                <a:cs typeface="Arial"/>
                <a:sym typeface="Arial"/>
              </a:rPr>
              <a:t>Marwa Aldaya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6770894" y="2964266"/>
            <a:ext cx="736758" cy="148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sng" cap="none" strike="noStrike">
                <a:solidFill>
                  <a:srgbClr val="0562C1"/>
                </a:solidFill>
                <a:latin typeface="Arial"/>
                <a:ea typeface="Arial"/>
                <a:cs typeface="Arial"/>
                <a:sym typeface="Arial"/>
              </a:rPr>
              <a:t>Marwa Aldaya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6770894" y="3306404"/>
            <a:ext cx="736758" cy="148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ar" sz="900" u="sng" cap="none" strike="noStrike">
                <a:solidFill>
                  <a:srgbClr val="0562C1"/>
                </a:solidFill>
                <a:latin typeface="Arial"/>
                <a:ea typeface="Arial"/>
                <a:cs typeface="Arial"/>
                <a:sym typeface="Arial"/>
              </a:rPr>
              <a:t>Marwa Aldaya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7"/>
          <p:cNvSpPr txBox="1"/>
          <p:nvPr/>
        </p:nvSpPr>
        <p:spPr>
          <a:xfrm>
            <a:off x="904981" y="4765942"/>
            <a:ext cx="2352569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Soulyma AlMahaeri – Marwa Aldaya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7"/>
          <p:cNvSpPr txBox="1"/>
          <p:nvPr/>
        </p:nvSpPr>
        <p:spPr>
          <a:xfrm>
            <a:off x="4183742" y="4765942"/>
            <a:ext cx="12196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b="0" i="0" lang="ar" sz="675" u="none" cap="none" strike="noStrike">
                <a:solidFill>
                  <a:srgbClr val="878787"/>
                </a:solidFill>
                <a:latin typeface="Arial"/>
                <a:ea typeface="Arial"/>
                <a:cs typeface="Arial"/>
                <a:sym typeface="Arial"/>
              </a:rPr>
              <a:t>IR – Damascus University </a:t>
            </a:r>
            <a:r>
              <a:rPr lang="ar" sz="675">
                <a:solidFill>
                  <a:srgbClr val="878787"/>
                </a:solidFill>
              </a:rPr>
              <a:t>2026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7"/>
          <p:cNvSpPr txBox="1"/>
          <p:nvPr/>
        </p:nvSpPr>
        <p:spPr>
          <a:xfrm>
            <a:off x="8567747" y="4765942"/>
            <a:ext cx="114776" cy="113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</a:pPr>
            <a:r>
              <a:rPr lang="ar" sz="675">
                <a:solidFill>
                  <a:srgbClr val="878787"/>
                </a:solidFill>
              </a:rPr>
              <a:t>19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3719" y="2315696"/>
            <a:ext cx="174672" cy="174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2288" y="2634441"/>
            <a:ext cx="217535" cy="21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52288" y="2971711"/>
            <a:ext cx="217535" cy="21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2288" y="3268576"/>
            <a:ext cx="217535" cy="21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7" title="Photoroom_20251119_190942 copy.jpg"/>
          <p:cNvPicPr preferRelativeResize="0"/>
          <p:nvPr/>
        </p:nvPicPr>
        <p:blipFill rotWithShape="1">
          <a:blip r:embed="rId8">
            <a:alphaModFix/>
          </a:blip>
          <a:srcRect b="0" l="5610" r="5619" t="0"/>
          <a:stretch/>
        </p:blipFill>
        <p:spPr>
          <a:xfrm>
            <a:off x="5029201" y="1996164"/>
            <a:ext cx="1219800" cy="155460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</p:spPr>
      </p:pic>
      <p:pic>
        <p:nvPicPr>
          <p:cNvPr id="293" name="Google Shape;29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6189" y="2275282"/>
            <a:ext cx="174672" cy="17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4757" y="2594016"/>
            <a:ext cx="217535" cy="21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4757" y="2931296"/>
            <a:ext cx="217535" cy="217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-5400000">
            <a:off x="614723" y="2174337"/>
            <a:ext cx="1672267" cy="1137730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</p:spPr>
      </p:pic>
      <p:pic>
        <p:nvPicPr>
          <p:cNvPr id="297" name="Google Shape;297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4757" y="3268576"/>
            <a:ext cx="217535" cy="21753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7"/>
          <p:cNvSpPr txBox="1"/>
          <p:nvPr/>
        </p:nvSpPr>
        <p:spPr>
          <a:xfrm>
            <a:off x="6438967" y="1996164"/>
            <a:ext cx="1104833" cy="171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ar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Marwa Aldaya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